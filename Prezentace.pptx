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sldIdLst>
    <p:sldId id="256" r:id="rId2"/>
    <p:sldId id="259" r:id="rId3"/>
    <p:sldId id="262" r:id="rId4"/>
    <p:sldId id="261" r:id="rId5"/>
    <p:sldId id="263" r:id="rId6"/>
    <p:sldId id="264" r:id="rId7"/>
    <p:sldId id="265" r:id="rId8"/>
    <p:sldId id="269" r:id="rId9"/>
    <p:sldId id="270" r:id="rId10"/>
    <p:sldId id="271" r:id="rId11"/>
    <p:sldId id="266" r:id="rId12"/>
    <p:sldId id="272" r:id="rId13"/>
    <p:sldId id="273" r:id="rId14"/>
    <p:sldId id="268" r:id="rId15"/>
    <p:sldId id="257" r:id="rId16"/>
    <p:sldId id="258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83228-0883-34DE-762B-DD36FE7C5A11}" v="507" dt="2026-01-07T17:39:02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0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1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73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8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0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9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3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5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66" r:id="rId6"/>
    <p:sldLayoutId id="2147483862" r:id="rId7"/>
    <p:sldLayoutId id="2147483863" r:id="rId8"/>
    <p:sldLayoutId id="2147483864" r:id="rId9"/>
    <p:sldLayoutId id="2147483865" r:id="rId10"/>
    <p:sldLayoutId id="21474838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intpp/paintp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B887A-DB02-4431-8FDF-F517505C9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702406" y="557783"/>
            <a:ext cx="5852698" cy="3130807"/>
          </a:xfrm>
        </p:spPr>
        <p:txBody>
          <a:bodyPr>
            <a:normAutofit/>
          </a:bodyPr>
          <a:lstStyle/>
          <a:p>
            <a:r>
              <a:rPr lang="cs-CZ" sz="9600" b="1" dirty="0" err="1"/>
              <a:t>Paint</a:t>
            </a:r>
            <a:r>
              <a:rPr lang="cs-CZ" sz="9600" b="1" dirty="0"/>
              <a:t>++</a:t>
            </a:r>
            <a:endParaRPr lang="en-US" sz="96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702406" y="3902206"/>
            <a:ext cx="5852698" cy="22405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b="1" dirty="0"/>
              <a:t>David Dvořák, Dan Malík, Ondřej </a:t>
            </a:r>
            <a:r>
              <a:rPr lang="cs-CZ" b="1" err="1"/>
              <a:t>Kutlvašr</a:t>
            </a:r>
            <a:r>
              <a:rPr lang="cs-CZ" b="1" dirty="0"/>
              <a:t>, Jaroslav Dvořáček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07CDF-945E-93D5-377E-F3C84538C8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7" r="14612" b="11"/>
          <a:stretch>
            <a:fillRect/>
          </a:stretch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12DBE6-43C6-A80E-B004-DF00CFB7B088}"/>
              </a:ext>
            </a:extLst>
          </p:cNvPr>
          <p:cNvSpPr txBox="1"/>
          <p:nvPr/>
        </p:nvSpPr>
        <p:spPr>
          <a:xfrm>
            <a:off x="7964260" y="371475"/>
            <a:ext cx="40304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Grafický</a:t>
            </a:r>
            <a:r>
              <a:rPr lang="en-US" dirty="0">
                <a:ea typeface="+mn-lt"/>
                <a:cs typeface="+mn-lt"/>
              </a:rPr>
              <a:t> editor s </a:t>
            </a:r>
            <a:r>
              <a:rPr lang="en-US" dirty="0" err="1">
                <a:ea typeface="+mn-lt"/>
                <a:cs typeface="+mn-lt"/>
              </a:rPr>
              <a:t>obrazovými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filtry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45E24-BB8E-833B-5C19-FB229135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41FAF0C-089D-1A99-42D3-E7B46C5A5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552782"/>
            <a:ext cx="4606456" cy="11547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 je Paint++?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B6FA084-3A96-A64A-3FDF-632B43B1D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98" y="2391995"/>
            <a:ext cx="4594537" cy="31747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/>
            <a:r>
              <a:rPr lang="en-US" b="1" dirty="0" err="1"/>
              <a:t>Desktopová</a:t>
            </a:r>
            <a:r>
              <a:rPr lang="en-US" b="1" dirty="0"/>
              <a:t> </a:t>
            </a:r>
            <a:r>
              <a:rPr lang="en-US" b="1" dirty="0" err="1"/>
              <a:t>aplikace</a:t>
            </a:r>
            <a:r>
              <a:rPr lang="en-US" b="1" dirty="0"/>
              <a:t> pro </a:t>
            </a:r>
            <a:r>
              <a:rPr lang="en-US" b="1" dirty="0" err="1"/>
              <a:t>úpravu</a:t>
            </a:r>
            <a:r>
              <a:rPr lang="en-US" b="1" dirty="0"/>
              <a:t> </a:t>
            </a:r>
            <a:r>
              <a:rPr lang="en-US" b="1" dirty="0" err="1"/>
              <a:t>obrázků</a:t>
            </a:r>
            <a:endParaRPr lang="en-US" b="1" dirty="0"/>
          </a:p>
          <a:p>
            <a:pPr marL="285750"/>
            <a:r>
              <a:rPr lang="en-US" b="1" err="1"/>
              <a:t>Napsaná</a:t>
            </a:r>
            <a:r>
              <a:rPr lang="en-US" b="1" dirty="0"/>
              <a:t> v </a:t>
            </a:r>
            <a:r>
              <a:rPr lang="en-US" b="1" err="1"/>
              <a:t>Javě</a:t>
            </a:r>
            <a:r>
              <a:rPr lang="en-US" b="1" dirty="0"/>
              <a:t> + JavaFX</a:t>
            </a:r>
          </a:p>
          <a:p>
            <a:pPr marL="285750"/>
            <a:r>
              <a:rPr lang="en-US" b="1" dirty="0"/>
              <a:t>14 </a:t>
            </a:r>
            <a:r>
              <a:rPr lang="en-US" b="1" err="1"/>
              <a:t>obrazových</a:t>
            </a:r>
            <a:r>
              <a:rPr lang="en-US" b="1" dirty="0"/>
              <a:t> </a:t>
            </a:r>
            <a:r>
              <a:rPr lang="en-US" b="1" err="1"/>
              <a:t>filtrů</a:t>
            </a:r>
            <a:endParaRPr lang="en-US" b="1"/>
          </a:p>
          <a:p>
            <a:pPr marL="285750"/>
            <a:r>
              <a:rPr lang="en-US" b="1" err="1"/>
              <a:t>Generátor</a:t>
            </a:r>
            <a:r>
              <a:rPr lang="en-US" b="1" dirty="0"/>
              <a:t> </a:t>
            </a:r>
            <a:r>
              <a:rPr lang="en-US" b="1" err="1"/>
              <a:t>procedurálních</a:t>
            </a:r>
            <a:r>
              <a:rPr lang="en-US" b="1" dirty="0"/>
              <a:t> </a:t>
            </a:r>
            <a:r>
              <a:rPr lang="en-US" b="1" err="1"/>
              <a:t>obrázků</a:t>
            </a:r>
            <a:endParaRPr lang="en-US" b="1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CA6A5-2622-EB86-DAB5-99D72FFEC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1" b="-2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4214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7EBF8-043B-1B8A-E332-13C4DA98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15BFF84-D1C5-7E53-2A06-987641072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3074" y="552782"/>
            <a:ext cx="5149326" cy="16436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Ukázka aplikace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E1458-A28D-48BE-273C-32387118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97" r="-2" b="-2"/>
          <a:stretch>
            <a:fillRect/>
          </a:stretch>
        </p:blipFill>
        <p:spPr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</p:spPr>
      </p:pic>
      <p:sp>
        <p:nvSpPr>
          <p:cNvPr id="3" name="Podnadpis 2">
            <a:extLst>
              <a:ext uri="{FF2B5EF4-FFF2-40B4-BE49-F238E27FC236}">
                <a16:creationId xmlns:a16="http://schemas.microsoft.com/office/drawing/2014/main" id="{BDAB677E-4FCB-48E9-D53D-3DB8E33BF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6789" y="2614276"/>
            <a:ext cx="3782565" cy="31083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/>
              <a:t>MenuBar</a:t>
            </a:r>
          </a:p>
          <a:p>
            <a:r>
              <a:rPr lang="en-US" b="1"/>
              <a:t>ActionBar</a:t>
            </a:r>
          </a:p>
          <a:p>
            <a:r>
              <a:rPr lang="en-US" b="1"/>
              <a:t>ImageViewer</a:t>
            </a:r>
          </a:p>
          <a:p>
            <a:r>
              <a:rPr lang="en-US" b="1"/>
              <a:t>Sidebar</a:t>
            </a:r>
          </a:p>
          <a:p>
            <a:r>
              <a:rPr lang="en-US" b="1"/>
              <a:t>StatusBar</a:t>
            </a:r>
          </a:p>
          <a:p>
            <a:r>
              <a:rPr lang="en-US" b="1"/>
              <a:t>FilterLoadingScreen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46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FCA978-4F62-4E53-0018-2AE9BBDC5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54" y="-4012"/>
            <a:ext cx="12192906" cy="686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5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87439-1CE8-E62A-D6D8-0FB28084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40085A0-0B68-7519-FC5A-44CE76ED6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876BB9D-7B65-0535-30C3-0A2AB34C8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1" name="Background Fill">
            <a:extLst>
              <a:ext uri="{FF2B5EF4-FFF2-40B4-BE49-F238E27FC236}">
                <a16:creationId xmlns:a16="http://schemas.microsoft.com/office/drawing/2014/main" id="{7519EA9D-CF25-64F4-38B6-C699DBBF1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66CE6C-91D4-A2AB-18D5-8539E3ECA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26FD017-A8F2-10E0-DB69-E43E74A6F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6122" y="238306"/>
            <a:ext cx="5149326" cy="9179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err="1">
                <a:ea typeface="+mj-lt"/>
                <a:cs typeface="+mj-lt"/>
              </a:rPr>
              <a:t>Typy</a:t>
            </a:r>
            <a:r>
              <a:rPr lang="en-US" sz="4400" b="1" dirty="0">
                <a:ea typeface="+mj-lt"/>
                <a:cs typeface="+mj-lt"/>
              </a:rPr>
              <a:t> </a:t>
            </a:r>
            <a:r>
              <a:rPr lang="en-US" sz="4400" b="1" err="1">
                <a:ea typeface="+mj-lt"/>
                <a:cs typeface="+mj-lt"/>
              </a:rPr>
              <a:t>filtrů</a:t>
            </a:r>
            <a:endParaRPr lang="en-US" b="1" err="1"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5905-F4F7-E33D-8F4D-C78820CF80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97" r="-2" b="-2"/>
          <a:stretch>
            <a:fillRect/>
          </a:stretch>
        </p:blipFill>
        <p:spPr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</p:spPr>
      </p:pic>
      <p:sp>
        <p:nvSpPr>
          <p:cNvPr id="3" name="Podnadpis 2">
            <a:extLst>
              <a:ext uri="{FF2B5EF4-FFF2-40B4-BE49-F238E27FC236}">
                <a16:creationId xmlns:a16="http://schemas.microsoft.com/office/drawing/2014/main" id="{CB40BA2A-56E3-FB17-8307-D241A23C1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612" y="1602585"/>
            <a:ext cx="5548469" cy="81025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800" b="1" err="1">
                <a:ea typeface="+mn-lt"/>
                <a:cs typeface="+mn-lt"/>
              </a:rPr>
              <a:t>Pixelové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err="1">
                <a:ea typeface="+mn-lt"/>
                <a:cs typeface="+mn-lt"/>
              </a:rPr>
              <a:t>filtry</a:t>
            </a:r>
            <a:r>
              <a:rPr lang="en-US" sz="2800" dirty="0">
                <a:ea typeface="+mn-lt"/>
                <a:cs typeface="+mn-lt"/>
              </a:rPr>
              <a:t> (</a:t>
            </a:r>
            <a:r>
              <a:rPr lang="en-US" sz="2800" err="1">
                <a:ea typeface="+mn-lt"/>
                <a:cs typeface="+mn-lt"/>
              </a:rPr>
              <a:t>každý</a:t>
            </a:r>
            <a:r>
              <a:rPr lang="en-US" sz="2800" dirty="0">
                <a:ea typeface="+mn-lt"/>
                <a:cs typeface="+mn-lt"/>
              </a:rPr>
              <a:t> pixel </a:t>
            </a:r>
            <a:r>
              <a:rPr lang="en-US" sz="2800" err="1">
                <a:ea typeface="+mn-lt"/>
                <a:cs typeface="+mn-lt"/>
              </a:rPr>
              <a:t>zvlášť</a:t>
            </a:r>
            <a:r>
              <a:rPr lang="en-US" sz="2800" dirty="0">
                <a:ea typeface="+mn-lt"/>
                <a:cs typeface="+mn-lt"/>
              </a:rPr>
              <a:t>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AC075-E94E-F82F-FB61-42F1B6001947}"/>
              </a:ext>
            </a:extLst>
          </p:cNvPr>
          <p:cNvSpPr txBox="1"/>
          <p:nvPr/>
        </p:nvSpPr>
        <p:spPr>
          <a:xfrm>
            <a:off x="6261357" y="2957285"/>
            <a:ext cx="609600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dirty="0" err="1">
                <a:ea typeface="+mn-lt"/>
                <a:cs typeface="+mn-lt"/>
              </a:rPr>
              <a:t>Konvoluční</a:t>
            </a:r>
            <a:r>
              <a:rPr lang="en-US" sz="2600" b="1" dirty="0">
                <a:ea typeface="+mn-lt"/>
                <a:cs typeface="+mn-lt"/>
              </a:rPr>
              <a:t> </a:t>
            </a:r>
            <a:r>
              <a:rPr lang="en-US" sz="2600" b="1" dirty="0" err="1">
                <a:ea typeface="+mn-lt"/>
                <a:cs typeface="+mn-lt"/>
              </a:rPr>
              <a:t>filtry</a:t>
            </a:r>
            <a:r>
              <a:rPr lang="en-US" sz="2600" dirty="0">
                <a:ea typeface="+mn-lt"/>
                <a:cs typeface="+mn-lt"/>
              </a:rPr>
              <a:t> (</a:t>
            </a:r>
            <a:r>
              <a:rPr lang="en-US" sz="2600" dirty="0" err="1">
                <a:ea typeface="+mn-lt"/>
                <a:cs typeface="+mn-lt"/>
              </a:rPr>
              <a:t>počítají</a:t>
            </a:r>
            <a:r>
              <a:rPr lang="en-US" sz="2600" dirty="0">
                <a:ea typeface="+mn-lt"/>
                <a:cs typeface="+mn-lt"/>
              </a:rPr>
              <a:t> z </a:t>
            </a:r>
            <a:r>
              <a:rPr lang="en-US" sz="2600" dirty="0" err="1">
                <a:ea typeface="+mn-lt"/>
                <a:cs typeface="+mn-lt"/>
              </a:rPr>
              <a:t>okolí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pixelu</a:t>
            </a:r>
            <a:r>
              <a:rPr lang="en-US" sz="2600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3A560-B24B-D107-FB8C-F9AE830435B6}"/>
              </a:ext>
            </a:extLst>
          </p:cNvPr>
          <p:cNvSpPr txBox="1"/>
          <p:nvPr/>
        </p:nvSpPr>
        <p:spPr>
          <a:xfrm>
            <a:off x="7003142" y="2128762"/>
            <a:ext cx="48259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ea typeface="+mn-lt"/>
                <a:cs typeface="+mn-lt"/>
              </a:rPr>
              <a:t>Černobílý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Negativ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Práhování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Pixelizace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Šum</a:t>
            </a:r>
            <a:r>
              <a:rPr lang="en-US" sz="2000" dirty="0">
                <a:ea typeface="+mn-lt"/>
                <a:cs typeface="+mn-lt"/>
              </a:rPr>
              <a:t>, Jas/</a:t>
            </a:r>
            <a:r>
              <a:rPr lang="en-US" sz="2000" err="1">
                <a:ea typeface="+mn-lt"/>
                <a:cs typeface="+mn-lt"/>
              </a:rPr>
              <a:t>Kontrast</a:t>
            </a:r>
            <a:r>
              <a:rPr lang="en-US" sz="2000" dirty="0">
                <a:ea typeface="+mn-lt"/>
                <a:cs typeface="+mn-lt"/>
              </a:rPr>
              <a:t>...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D4DD7-D573-4588-532E-C22E28F56CD5}"/>
              </a:ext>
            </a:extLst>
          </p:cNvPr>
          <p:cNvSpPr txBox="1"/>
          <p:nvPr/>
        </p:nvSpPr>
        <p:spPr>
          <a:xfrm>
            <a:off x="7003141" y="3543904"/>
            <a:ext cx="48259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ea typeface="+mn-lt"/>
                <a:cs typeface="+mn-lt"/>
              </a:rPr>
              <a:t>Rozmazání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Doostření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Detekce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hran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Reliéf</a:t>
            </a:r>
            <a:r>
              <a:rPr lang="en-US" sz="2000" dirty="0">
                <a:ea typeface="+mn-lt"/>
                <a:cs typeface="+mn-lt"/>
              </a:rPr>
              <a:t>...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811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47249-E4C8-5633-13A8-E0ED6F6DD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2DC5C2-CCA7-49E4-B67F-6F121D48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0F08D-497D-473A-0088-F1FF927C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06" b="674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27966D5E-7857-415C-B50C-0DD96BCB7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9" cy="6858000"/>
          </a:xfrm>
          <a:custGeom>
            <a:avLst/>
            <a:gdLst>
              <a:gd name="connsiteX0" fmla="*/ 7169276 w 10615629"/>
              <a:gd name="connsiteY0" fmla="*/ 5704266 h 6858000"/>
              <a:gd name="connsiteX1" fmla="*/ 7514897 w 10615629"/>
              <a:gd name="connsiteY1" fmla="*/ 6049887 h 6858000"/>
              <a:gd name="connsiteX2" fmla="*/ 7169276 w 10615629"/>
              <a:gd name="connsiteY2" fmla="*/ 6395508 h 6858000"/>
              <a:gd name="connsiteX3" fmla="*/ 6823655 w 10615629"/>
              <a:gd name="connsiteY3" fmla="*/ 6049887 h 6858000"/>
              <a:gd name="connsiteX4" fmla="*/ 7169276 w 10615629"/>
              <a:gd name="connsiteY4" fmla="*/ 5704266 h 6858000"/>
              <a:gd name="connsiteX5" fmla="*/ 10010446 w 10615629"/>
              <a:gd name="connsiteY5" fmla="*/ 2324705 h 6858000"/>
              <a:gd name="connsiteX6" fmla="*/ 10456760 w 10615629"/>
              <a:gd name="connsiteY6" fmla="*/ 2771019 h 6858000"/>
              <a:gd name="connsiteX7" fmla="*/ 10010446 w 10615629"/>
              <a:gd name="connsiteY7" fmla="*/ 3217333 h 6858000"/>
              <a:gd name="connsiteX8" fmla="*/ 9564132 w 10615629"/>
              <a:gd name="connsiteY8" fmla="*/ 2771019 h 6858000"/>
              <a:gd name="connsiteX9" fmla="*/ 10010446 w 10615629"/>
              <a:gd name="connsiteY9" fmla="*/ 2324705 h 6858000"/>
              <a:gd name="connsiteX10" fmla="*/ 10354145 w 10615629"/>
              <a:gd name="connsiteY10" fmla="*/ 1665213 h 6858000"/>
              <a:gd name="connsiteX11" fmla="*/ 10615629 w 10615629"/>
              <a:gd name="connsiteY11" fmla="*/ 1926697 h 6858000"/>
              <a:gd name="connsiteX12" fmla="*/ 10354145 w 10615629"/>
              <a:gd name="connsiteY12" fmla="*/ 2188181 h 6858000"/>
              <a:gd name="connsiteX13" fmla="*/ 10092661 w 10615629"/>
              <a:gd name="connsiteY13" fmla="*/ 1926697 h 6858000"/>
              <a:gd name="connsiteX14" fmla="*/ 10354145 w 10615629"/>
              <a:gd name="connsiteY14" fmla="*/ 1665213 h 6858000"/>
              <a:gd name="connsiteX15" fmla="*/ 1458901 w 10615629"/>
              <a:gd name="connsiteY15" fmla="*/ 659644 h 6858000"/>
              <a:gd name="connsiteX16" fmla="*/ 1905215 w 10615629"/>
              <a:gd name="connsiteY16" fmla="*/ 1105958 h 6858000"/>
              <a:gd name="connsiteX17" fmla="*/ 1458901 w 10615629"/>
              <a:gd name="connsiteY17" fmla="*/ 1552272 h 6858000"/>
              <a:gd name="connsiteX18" fmla="*/ 1012587 w 10615629"/>
              <a:gd name="connsiteY18" fmla="*/ 1105958 h 6858000"/>
              <a:gd name="connsiteX19" fmla="*/ 1458901 w 10615629"/>
              <a:gd name="connsiteY19" fmla="*/ 659644 h 6858000"/>
              <a:gd name="connsiteX20" fmla="*/ 6674038 w 10615629"/>
              <a:gd name="connsiteY20" fmla="*/ 0 h 6858000"/>
              <a:gd name="connsiteX21" fmla="*/ 10121228 w 10615629"/>
              <a:gd name="connsiteY21" fmla="*/ 0 h 6858000"/>
              <a:gd name="connsiteX22" fmla="*/ 10122250 w 10615629"/>
              <a:gd name="connsiteY22" fmla="*/ 1542 h 6858000"/>
              <a:gd name="connsiteX23" fmla="*/ 9914575 w 10615629"/>
              <a:gd name="connsiteY23" fmla="*/ 1714821 h 6858000"/>
              <a:gd name="connsiteX24" fmla="*/ 9361609 w 10615629"/>
              <a:gd name="connsiteY24" fmla="*/ 2396453 h 6858000"/>
              <a:gd name="connsiteX25" fmla="*/ 9334635 w 10615629"/>
              <a:gd name="connsiteY25" fmla="*/ 3107486 h 6858000"/>
              <a:gd name="connsiteX26" fmla="*/ 9815042 w 10615629"/>
              <a:gd name="connsiteY26" fmla="*/ 3891891 h 6858000"/>
              <a:gd name="connsiteX27" fmla="*/ 9376176 w 10615629"/>
              <a:gd name="connsiteY27" fmla="*/ 5202286 h 6858000"/>
              <a:gd name="connsiteX28" fmla="*/ 7869813 w 10615629"/>
              <a:gd name="connsiteY28" fmla="*/ 5436960 h 6858000"/>
              <a:gd name="connsiteX29" fmla="*/ 6545392 w 10615629"/>
              <a:gd name="connsiteY29" fmla="*/ 5630362 h 6858000"/>
              <a:gd name="connsiteX30" fmla="*/ 5772723 w 10615629"/>
              <a:gd name="connsiteY30" fmla="*/ 6502431 h 6858000"/>
              <a:gd name="connsiteX31" fmla="*/ 5542129 w 10615629"/>
              <a:gd name="connsiteY31" fmla="*/ 6791052 h 6858000"/>
              <a:gd name="connsiteX32" fmla="*/ 5487454 w 10615629"/>
              <a:gd name="connsiteY32" fmla="*/ 6858000 h 6858000"/>
              <a:gd name="connsiteX33" fmla="*/ 3860772 w 10615629"/>
              <a:gd name="connsiteY33" fmla="*/ 6858000 h 6858000"/>
              <a:gd name="connsiteX34" fmla="*/ 3806309 w 10615629"/>
              <a:gd name="connsiteY34" fmla="*/ 6753976 h 6858000"/>
              <a:gd name="connsiteX35" fmla="*/ 3692626 w 10615629"/>
              <a:gd name="connsiteY35" fmla="*/ 6315366 h 6858000"/>
              <a:gd name="connsiteX36" fmla="*/ 2561203 w 10615629"/>
              <a:gd name="connsiteY36" fmla="*/ 5694965 h 6858000"/>
              <a:gd name="connsiteX37" fmla="*/ 69617 w 10615629"/>
              <a:gd name="connsiteY37" fmla="*/ 4316865 h 6858000"/>
              <a:gd name="connsiteX38" fmla="*/ 1643 w 10615629"/>
              <a:gd name="connsiteY38" fmla="*/ 3718987 h 6858000"/>
              <a:gd name="connsiteX39" fmla="*/ 368893 w 10615629"/>
              <a:gd name="connsiteY39" fmla="*/ 2555465 h 6858000"/>
              <a:gd name="connsiteX40" fmla="*/ 1113509 w 10615629"/>
              <a:gd name="connsiteY40" fmla="*/ 2231777 h 6858000"/>
              <a:gd name="connsiteX41" fmla="*/ 2037233 w 10615629"/>
              <a:gd name="connsiteY41" fmla="*/ 2044714 h 6858000"/>
              <a:gd name="connsiteX42" fmla="*/ 2547311 w 10615629"/>
              <a:gd name="connsiteY42" fmla="*/ 1444273 h 6858000"/>
              <a:gd name="connsiteX43" fmla="*/ 3900864 w 10615629"/>
              <a:gd name="connsiteY43" fmla="*/ 617925 h 6858000"/>
              <a:gd name="connsiteX44" fmla="*/ 4571572 w 10615629"/>
              <a:gd name="connsiteY44" fmla="*/ 899937 h 6858000"/>
              <a:gd name="connsiteX45" fmla="*/ 6039226 w 10615629"/>
              <a:gd name="connsiteY45" fmla="*/ 670658 h 6858000"/>
              <a:gd name="connsiteX46" fmla="*/ 6656610 w 10615629"/>
              <a:gd name="connsiteY46" fmla="*/ 161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9" h="6858000">
                <a:moveTo>
                  <a:pt x="7169276" y="5704266"/>
                </a:moveTo>
                <a:cubicBezTo>
                  <a:pt x="7360157" y="5704266"/>
                  <a:pt x="7514897" y="5859006"/>
                  <a:pt x="7514897" y="6049887"/>
                </a:cubicBezTo>
                <a:cubicBezTo>
                  <a:pt x="7514897" y="6240768"/>
                  <a:pt x="7360157" y="6395508"/>
                  <a:pt x="7169276" y="6395508"/>
                </a:cubicBezTo>
                <a:cubicBezTo>
                  <a:pt x="6978395" y="6395508"/>
                  <a:pt x="6823655" y="6240768"/>
                  <a:pt x="6823655" y="6049887"/>
                </a:cubicBezTo>
                <a:cubicBezTo>
                  <a:pt x="6823655" y="5859006"/>
                  <a:pt x="6978395" y="5704266"/>
                  <a:pt x="7169276" y="5704266"/>
                </a:cubicBezTo>
                <a:close/>
                <a:moveTo>
                  <a:pt x="10010446" y="2324705"/>
                </a:moveTo>
                <a:cubicBezTo>
                  <a:pt x="10256938" y="2324705"/>
                  <a:pt x="10456760" y="2524528"/>
                  <a:pt x="10456760" y="2771019"/>
                </a:cubicBezTo>
                <a:cubicBezTo>
                  <a:pt x="10456760" y="3017511"/>
                  <a:pt x="10256938" y="3217333"/>
                  <a:pt x="10010446" y="3217333"/>
                </a:cubicBezTo>
                <a:cubicBezTo>
                  <a:pt x="9763954" y="3217333"/>
                  <a:pt x="9564132" y="3017511"/>
                  <a:pt x="9564132" y="2771019"/>
                </a:cubicBezTo>
                <a:cubicBezTo>
                  <a:pt x="9564132" y="2524528"/>
                  <a:pt x="9763954" y="2324705"/>
                  <a:pt x="10010446" y="2324705"/>
                </a:cubicBezTo>
                <a:close/>
                <a:moveTo>
                  <a:pt x="10354145" y="1665213"/>
                </a:moveTo>
                <a:cubicBezTo>
                  <a:pt x="10498559" y="1665213"/>
                  <a:pt x="10615629" y="1782283"/>
                  <a:pt x="10615629" y="1926697"/>
                </a:cubicBezTo>
                <a:cubicBezTo>
                  <a:pt x="10615629" y="2071111"/>
                  <a:pt x="10498559" y="2188181"/>
                  <a:pt x="10354145" y="2188181"/>
                </a:cubicBezTo>
                <a:cubicBezTo>
                  <a:pt x="10209731" y="2188181"/>
                  <a:pt x="10092661" y="2071111"/>
                  <a:pt x="10092661" y="1926697"/>
                </a:cubicBezTo>
                <a:cubicBezTo>
                  <a:pt x="10092661" y="1782283"/>
                  <a:pt x="10209731" y="1665213"/>
                  <a:pt x="10354145" y="1665213"/>
                </a:cubicBezTo>
                <a:close/>
                <a:moveTo>
                  <a:pt x="1458901" y="659644"/>
                </a:moveTo>
                <a:cubicBezTo>
                  <a:pt x="1705393" y="659644"/>
                  <a:pt x="1905215" y="859466"/>
                  <a:pt x="1905215" y="1105958"/>
                </a:cubicBezTo>
                <a:cubicBezTo>
                  <a:pt x="1905215" y="1352450"/>
                  <a:pt x="1705393" y="1552272"/>
                  <a:pt x="1458901" y="1552272"/>
                </a:cubicBezTo>
                <a:cubicBezTo>
                  <a:pt x="1212409" y="1552272"/>
                  <a:pt x="1012587" y="1352450"/>
                  <a:pt x="1012587" y="1105958"/>
                </a:cubicBezTo>
                <a:cubicBezTo>
                  <a:pt x="1012587" y="859466"/>
                  <a:pt x="1212409" y="659644"/>
                  <a:pt x="1458901" y="659644"/>
                </a:cubicBezTo>
                <a:close/>
                <a:moveTo>
                  <a:pt x="6674038" y="0"/>
                </a:moveTo>
                <a:lnTo>
                  <a:pt x="10121228" y="0"/>
                </a:lnTo>
                <a:lnTo>
                  <a:pt x="10122250" y="1542"/>
                </a:lnTo>
                <a:cubicBezTo>
                  <a:pt x="10407914" y="485220"/>
                  <a:pt x="10448238" y="1134713"/>
                  <a:pt x="9914575" y="1714821"/>
                </a:cubicBezTo>
                <a:cubicBezTo>
                  <a:pt x="9716856" y="1929804"/>
                  <a:pt x="9539638" y="2164208"/>
                  <a:pt x="9361609" y="2396453"/>
                </a:cubicBezTo>
                <a:cubicBezTo>
                  <a:pt x="9193292" y="2616157"/>
                  <a:pt x="9188572" y="2869712"/>
                  <a:pt x="9334635" y="3107486"/>
                </a:cubicBezTo>
                <a:cubicBezTo>
                  <a:pt x="9495670" y="3368730"/>
                  <a:pt x="9683004" y="3617025"/>
                  <a:pt x="9815042" y="3891891"/>
                </a:cubicBezTo>
                <a:cubicBezTo>
                  <a:pt x="10050525" y="4382007"/>
                  <a:pt x="9955575" y="4864841"/>
                  <a:pt x="9376176" y="5202286"/>
                </a:cubicBezTo>
                <a:cubicBezTo>
                  <a:pt x="8901029" y="5479039"/>
                  <a:pt x="8396077" y="5489829"/>
                  <a:pt x="7869813" y="5436960"/>
                </a:cubicBezTo>
                <a:cubicBezTo>
                  <a:pt x="7414764" y="5391373"/>
                  <a:pt x="6924917" y="5356038"/>
                  <a:pt x="6545392" y="5630362"/>
                </a:cubicBezTo>
                <a:cubicBezTo>
                  <a:pt x="6238294" y="5852628"/>
                  <a:pt x="6024795" y="6205178"/>
                  <a:pt x="5772723" y="6502431"/>
                </a:cubicBezTo>
                <a:cubicBezTo>
                  <a:pt x="5693285" y="6596233"/>
                  <a:pt x="5618533" y="6694485"/>
                  <a:pt x="5542129" y="6791052"/>
                </a:cubicBezTo>
                <a:lnTo>
                  <a:pt x="5487454" y="6858000"/>
                </a:lnTo>
                <a:lnTo>
                  <a:pt x="3860772" y="6858000"/>
                </a:lnTo>
                <a:lnTo>
                  <a:pt x="3806309" y="6753976"/>
                </a:lnTo>
                <a:cubicBezTo>
                  <a:pt x="3748311" y="6617180"/>
                  <a:pt x="3717510" y="6461835"/>
                  <a:pt x="3692626" y="6315366"/>
                </a:cubicBezTo>
                <a:cubicBezTo>
                  <a:pt x="3594980" y="5743923"/>
                  <a:pt x="2996563" y="5569132"/>
                  <a:pt x="2561203" y="5694965"/>
                </a:cubicBezTo>
                <a:cubicBezTo>
                  <a:pt x="1295584" y="6063834"/>
                  <a:pt x="405173" y="5417942"/>
                  <a:pt x="69617" y="4316865"/>
                </a:cubicBezTo>
                <a:cubicBezTo>
                  <a:pt x="12163" y="4128181"/>
                  <a:pt x="22818" y="3919404"/>
                  <a:pt x="1643" y="3718987"/>
                </a:cubicBezTo>
                <a:cubicBezTo>
                  <a:pt x="-11845" y="3285650"/>
                  <a:pt x="53163" y="2879692"/>
                  <a:pt x="368893" y="2555465"/>
                </a:cubicBezTo>
                <a:cubicBezTo>
                  <a:pt x="570254" y="2348709"/>
                  <a:pt x="826642" y="2266304"/>
                  <a:pt x="1113509" y="2231777"/>
                </a:cubicBezTo>
                <a:cubicBezTo>
                  <a:pt x="1425464" y="2194013"/>
                  <a:pt x="1739171" y="2139122"/>
                  <a:pt x="2037233" y="2044714"/>
                </a:cubicBezTo>
                <a:cubicBezTo>
                  <a:pt x="2313448" y="1957047"/>
                  <a:pt x="2430109" y="1689061"/>
                  <a:pt x="2547311" y="1444273"/>
                </a:cubicBezTo>
                <a:cubicBezTo>
                  <a:pt x="2839304" y="834121"/>
                  <a:pt x="3300290" y="529585"/>
                  <a:pt x="3900864" y="617925"/>
                </a:cubicBezTo>
                <a:cubicBezTo>
                  <a:pt x="4133785" y="652182"/>
                  <a:pt x="4362119" y="778959"/>
                  <a:pt x="4571572" y="899937"/>
                </a:cubicBezTo>
                <a:cubicBezTo>
                  <a:pt x="5133170" y="1224435"/>
                  <a:pt x="5641899" y="1068660"/>
                  <a:pt x="6039226" y="670658"/>
                </a:cubicBezTo>
                <a:cubicBezTo>
                  <a:pt x="6250634" y="458239"/>
                  <a:pt x="6444898" y="227157"/>
                  <a:pt x="6656610" y="1615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67C3BB-F09C-75AB-125C-EF4C59A2E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7552" y="1388459"/>
            <a:ext cx="6458556" cy="2387600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err="1">
                <a:ea typeface="+mj-lt"/>
                <a:cs typeface="+mj-lt"/>
              </a:rPr>
              <a:t>Ukázka</a:t>
            </a:r>
            <a:r>
              <a:rPr lang="en-US" b="1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filtrů</a:t>
            </a:r>
          </a:p>
        </p:txBody>
      </p:sp>
    </p:spTree>
    <p:extLst>
      <p:ext uri="{BB962C8B-B14F-4D97-AF65-F5344CB8AC3E}">
        <p14:creationId xmlns:p14="http://schemas.microsoft.com/office/powerpoint/2010/main" val="111153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56891-673C-0CDD-676B-DC5215FE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F9CD95-352A-B9BF-35A7-7969F6ECE9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624" b="1"/>
          <a:stretch>
            <a:fillRect/>
          </a:stretch>
        </p:blipFill>
        <p:spPr>
          <a:xfrm>
            <a:off x="-74645" y="10"/>
            <a:ext cx="12266645" cy="685799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4EC6B62-8D18-47C6-815A-17919789F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50443" y="-1383557"/>
            <a:ext cx="6858000" cy="9625112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55000">
                <a:srgbClr val="000000">
                  <a:alpha val="46000"/>
                </a:srgbClr>
              </a:gs>
              <a:gs pos="0">
                <a:srgbClr val="000000">
                  <a:alpha val="6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7115DC5-F78C-9A14-DC50-280686602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3865" y="1833056"/>
            <a:ext cx="6787658" cy="35941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1" dirty="0" err="1">
                <a:solidFill>
                  <a:srgbClr val="FFFFFF"/>
                </a:solidFill>
                <a:ea typeface="+mj-lt"/>
                <a:cs typeface="+mj-lt"/>
              </a:rPr>
              <a:t>Originál</a:t>
            </a:r>
            <a:endParaRPr lang="en-US" b="1" dirty="0" err="1">
              <a:solidFill>
                <a:srgbClr val="FFFFFF"/>
              </a:solidFill>
              <a:cs typeface="Posterama"/>
            </a:endParaRPr>
          </a:p>
        </p:txBody>
      </p:sp>
      <p:sp useBgFill="1">
        <p:nvSpPr>
          <p:cNvPr id="60" name="Freeform: Shape 59">
            <a:extLst>
              <a:ext uri="{FF2B5EF4-FFF2-40B4-BE49-F238E27FC236}">
                <a16:creationId xmlns:a16="http://schemas.microsoft.com/office/drawing/2014/main" id="{0EE1950E-A750-4EB6-943D-2FE814B8F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2630" cy="2848482"/>
          </a:xfrm>
          <a:custGeom>
            <a:avLst/>
            <a:gdLst>
              <a:gd name="connsiteX0" fmla="*/ 1193013 w 2432630"/>
              <a:gd name="connsiteY0" fmla="*/ 1609830 h 2848482"/>
              <a:gd name="connsiteX1" fmla="*/ 1452520 w 2432630"/>
              <a:gd name="connsiteY1" fmla="*/ 1771993 h 2848482"/>
              <a:gd name="connsiteX2" fmla="*/ 1333256 w 2432630"/>
              <a:gd name="connsiteY2" fmla="*/ 2217094 h 2848482"/>
              <a:gd name="connsiteX3" fmla="*/ 888154 w 2432630"/>
              <a:gd name="connsiteY3" fmla="*/ 2097829 h 2848482"/>
              <a:gd name="connsiteX4" fmla="*/ 1007419 w 2432630"/>
              <a:gd name="connsiteY4" fmla="*/ 1652728 h 2848482"/>
              <a:gd name="connsiteX5" fmla="*/ 1193013 w 2432630"/>
              <a:gd name="connsiteY5" fmla="*/ 1609830 h 2848482"/>
              <a:gd name="connsiteX6" fmla="*/ 1721013 w 2432630"/>
              <a:gd name="connsiteY6" fmla="*/ 1345937 h 2848482"/>
              <a:gd name="connsiteX7" fmla="*/ 1880524 w 2432630"/>
              <a:gd name="connsiteY7" fmla="*/ 1425334 h 2848482"/>
              <a:gd name="connsiteX8" fmla="*/ 1821528 w 2432630"/>
              <a:gd name="connsiteY8" fmla="*/ 1645511 h 2848482"/>
              <a:gd name="connsiteX9" fmla="*/ 1601350 w 2432630"/>
              <a:gd name="connsiteY9" fmla="*/ 1586514 h 2848482"/>
              <a:gd name="connsiteX10" fmla="*/ 1660347 w 2432630"/>
              <a:gd name="connsiteY10" fmla="*/ 1366337 h 2848482"/>
              <a:gd name="connsiteX11" fmla="*/ 1721013 w 2432630"/>
              <a:gd name="connsiteY11" fmla="*/ 1345937 h 2848482"/>
              <a:gd name="connsiteX12" fmla="*/ 0 w 2432630"/>
              <a:gd name="connsiteY12" fmla="*/ 0 h 2848482"/>
              <a:gd name="connsiteX13" fmla="*/ 2420476 w 2432630"/>
              <a:gd name="connsiteY13" fmla="*/ 0 h 2848482"/>
              <a:gd name="connsiteX14" fmla="*/ 2431096 w 2432630"/>
              <a:gd name="connsiteY14" fmla="*/ 94052 h 2848482"/>
              <a:gd name="connsiteX15" fmla="*/ 2426545 w 2432630"/>
              <a:gd name="connsiteY15" fmla="*/ 261706 h 2848482"/>
              <a:gd name="connsiteX16" fmla="*/ 1347411 w 2432630"/>
              <a:gd name="connsiteY16" fmla="*/ 1289202 h 2848482"/>
              <a:gd name="connsiteX17" fmla="*/ 678423 w 2432630"/>
              <a:gd name="connsiteY17" fmla="*/ 1606118 h 2848482"/>
              <a:gd name="connsiteX18" fmla="*/ 284014 w 2432630"/>
              <a:gd name="connsiteY18" fmla="*/ 2398976 h 2848482"/>
              <a:gd name="connsiteX19" fmla="*/ 97407 w 2432630"/>
              <a:gd name="connsiteY19" fmla="*/ 2742323 h 2848482"/>
              <a:gd name="connsiteX20" fmla="*/ 0 w 2432630"/>
              <a:gd name="connsiteY20" fmla="*/ 2848482 h 2848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32630" h="2848482">
                <a:moveTo>
                  <a:pt x="1193013" y="1609830"/>
                </a:moveTo>
                <a:cubicBezTo>
                  <a:pt x="1297352" y="1617205"/>
                  <a:pt x="1396284" y="1674588"/>
                  <a:pt x="1452520" y="1771993"/>
                </a:cubicBezTo>
                <a:cubicBezTo>
                  <a:pt x="1542498" y="1927838"/>
                  <a:pt x="1489101" y="2127117"/>
                  <a:pt x="1333256" y="2217094"/>
                </a:cubicBezTo>
                <a:cubicBezTo>
                  <a:pt x="1177410" y="2307071"/>
                  <a:pt x="978131" y="2253675"/>
                  <a:pt x="888154" y="2097829"/>
                </a:cubicBezTo>
                <a:cubicBezTo>
                  <a:pt x="798176" y="1941984"/>
                  <a:pt x="851572" y="1742705"/>
                  <a:pt x="1007419" y="1652728"/>
                </a:cubicBezTo>
                <a:cubicBezTo>
                  <a:pt x="1065861" y="1618986"/>
                  <a:pt x="1130410" y="1605406"/>
                  <a:pt x="1193013" y="1609830"/>
                </a:cubicBezTo>
                <a:close/>
                <a:moveTo>
                  <a:pt x="1721013" y="1345937"/>
                </a:moveTo>
                <a:cubicBezTo>
                  <a:pt x="1783347" y="1338202"/>
                  <a:pt x="1847142" y="1367515"/>
                  <a:pt x="1880524" y="1425334"/>
                </a:cubicBezTo>
                <a:cubicBezTo>
                  <a:pt x="1925033" y="1502425"/>
                  <a:pt x="1898619" y="1601002"/>
                  <a:pt x="1821528" y="1645511"/>
                </a:cubicBezTo>
                <a:cubicBezTo>
                  <a:pt x="1744436" y="1690020"/>
                  <a:pt x="1645859" y="1663606"/>
                  <a:pt x="1601350" y="1586514"/>
                </a:cubicBezTo>
                <a:cubicBezTo>
                  <a:pt x="1556841" y="1509423"/>
                  <a:pt x="1583254" y="1410846"/>
                  <a:pt x="1660347" y="1366337"/>
                </a:cubicBezTo>
                <a:cubicBezTo>
                  <a:pt x="1679620" y="1355210"/>
                  <a:pt x="1700235" y="1348515"/>
                  <a:pt x="1721013" y="1345937"/>
                </a:cubicBezTo>
                <a:close/>
                <a:moveTo>
                  <a:pt x="0" y="0"/>
                </a:moveTo>
                <a:lnTo>
                  <a:pt x="2420476" y="0"/>
                </a:lnTo>
                <a:lnTo>
                  <a:pt x="2431096" y="94052"/>
                </a:lnTo>
                <a:cubicBezTo>
                  <a:pt x="2434004" y="150699"/>
                  <a:pt x="2432933" y="206775"/>
                  <a:pt x="2426545" y="261706"/>
                </a:cubicBezTo>
                <a:cubicBezTo>
                  <a:pt x="2360669" y="828256"/>
                  <a:pt x="1972176" y="1172577"/>
                  <a:pt x="1347411" y="1289202"/>
                </a:cubicBezTo>
                <a:cubicBezTo>
                  <a:pt x="1096744" y="1336043"/>
                  <a:pt x="825156" y="1376752"/>
                  <a:pt x="678423" y="1606118"/>
                </a:cubicBezTo>
                <a:cubicBezTo>
                  <a:pt x="520257" y="1853673"/>
                  <a:pt x="394149" y="2125038"/>
                  <a:pt x="284014" y="2398976"/>
                </a:cubicBezTo>
                <a:cubicBezTo>
                  <a:pt x="233465" y="2524954"/>
                  <a:pt x="173906" y="2641107"/>
                  <a:pt x="97407" y="2742323"/>
                </a:cubicBezTo>
                <a:lnTo>
                  <a:pt x="0" y="284848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6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9C590-9322-B8DB-42FC-87A6C8C52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B0F893-148A-EFDA-9561-919746772B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222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07EC7751-495D-487E-B212-AB1DD0DB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"/>
            <a:ext cx="12188952" cy="312661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36200">
                <a:srgbClr val="000000">
                  <a:alpha val="33000"/>
                </a:srgbClr>
              </a:gs>
              <a:gs pos="0">
                <a:srgbClr val="000000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34F76B-6F75-B55F-72FA-87B463198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8641" y="2219275"/>
            <a:ext cx="6302803" cy="13055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err="1">
                <a:solidFill>
                  <a:srgbClr val="FFFFFF"/>
                </a:solidFill>
                <a:ea typeface="+mj-lt"/>
                <a:cs typeface="+mj-lt"/>
              </a:rPr>
              <a:t>Černo-bílý</a:t>
            </a:r>
            <a:endParaRPr lang="en-US" b="1" err="1">
              <a:solidFill>
                <a:srgbClr val="FFFFFF"/>
              </a:solidFill>
              <a:cs typeface="Posterama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A00DF8D-2CBA-449E-B29E-B111149DF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02" y="4142197"/>
            <a:ext cx="12191999" cy="271580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55000">
                <a:srgbClr val="000000">
                  <a:alpha val="37000"/>
                </a:srgbClr>
              </a:gs>
              <a:gs pos="0">
                <a:srgbClr val="000000">
                  <a:alpha val="6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87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8A079-435A-88A6-9A95-05C2CA75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BBB887A-DB02-4431-8FDF-F517505C9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032AB89-8233-4970-0790-73D38F6B4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1502" y="150687"/>
            <a:ext cx="5852698" cy="31308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err="1">
                <a:ea typeface="+mj-lt"/>
                <a:cs typeface="+mj-lt"/>
              </a:rPr>
              <a:t>Negativ</a:t>
            </a:r>
            <a:endParaRPr lang="en-US" b="1" dirty="0" err="1">
              <a:cs typeface="Posteram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6BEBFD-1FEF-05B4-097D-1EDE2AFBD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30"/>
          <a:stretch>
            <a:fillRect/>
          </a:stretch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8425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2FBC2-3AC2-48FD-59C5-6258C928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C978CD5-696C-47A1-9AEC-EEB8D7D44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2011A57-5B3F-CFED-2AB0-71FCA2831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299" y="701950"/>
            <a:ext cx="5598097" cy="1441763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rial"/>
                <a:ea typeface="+mj-lt"/>
                <a:cs typeface="Arial"/>
              </a:rPr>
              <a:t>Threshold - </a:t>
            </a:r>
            <a:r>
              <a:rPr lang="en-US" sz="3200" b="1" err="1">
                <a:solidFill>
                  <a:srgbClr val="000000"/>
                </a:solidFill>
                <a:latin typeface="Arial"/>
                <a:ea typeface="+mj-lt"/>
                <a:cs typeface="Arial"/>
              </a:rPr>
              <a:t>Práhování</a:t>
            </a:r>
            <a:r>
              <a:rPr lang="en-US" sz="3200" b="1" dirty="0">
                <a:solidFill>
                  <a:srgbClr val="000000"/>
                </a:solidFill>
                <a:latin typeface="Arial"/>
                <a:ea typeface="+mj-lt"/>
                <a:cs typeface="Arial"/>
              </a:rPr>
              <a:t> s </a:t>
            </a:r>
            <a:r>
              <a:rPr lang="en-US" sz="3200" b="1" err="1">
                <a:solidFill>
                  <a:srgbClr val="000000"/>
                </a:solidFill>
                <a:latin typeface="Arial"/>
                <a:ea typeface="+mj-lt"/>
                <a:cs typeface="Arial"/>
              </a:rPr>
              <a:t>konfigurovatelnou</a:t>
            </a:r>
            <a:r>
              <a:rPr lang="en-US" sz="3200" b="1" dirty="0">
                <a:solidFill>
                  <a:srgbClr val="000000"/>
                </a:solidFill>
                <a:latin typeface="Arial"/>
                <a:ea typeface="+mj-lt"/>
                <a:cs typeface="Arial"/>
              </a:rPr>
              <a:t> </a:t>
            </a:r>
            <a:r>
              <a:rPr lang="en-US" sz="3200" b="1" err="1">
                <a:solidFill>
                  <a:srgbClr val="000000"/>
                </a:solidFill>
                <a:latin typeface="Arial"/>
                <a:ea typeface="+mj-lt"/>
                <a:cs typeface="Arial"/>
              </a:rPr>
              <a:t>hodnotou</a:t>
            </a:r>
            <a:endParaRPr lang="en-US" sz="3200" b="1" err="1">
              <a:cs typeface="Posterama"/>
            </a:endParaRPr>
          </a:p>
          <a:p>
            <a:endParaRPr lang="en-US" b="1" dirty="0">
              <a:cs typeface="Postera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00C49-D2D4-CF87-720A-C14316FF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97"/>
          <a:stretch>
            <a:fillRect/>
          </a:stretch>
        </p:blipFill>
        <p:spPr>
          <a:xfrm>
            <a:off x="6480316" y="1"/>
            <a:ext cx="5726654" cy="6857999"/>
          </a:xfrm>
          <a:custGeom>
            <a:avLst/>
            <a:gdLst/>
            <a:ahLst/>
            <a:cxnLst/>
            <a:rect l="l" t="t" r="r" b="b"/>
            <a:pathLst>
              <a:path w="5726654" h="6857999">
                <a:moveTo>
                  <a:pt x="615191" y="3536634"/>
                </a:moveTo>
                <a:cubicBezTo>
                  <a:pt x="896629" y="3536634"/>
                  <a:pt x="1124779" y="3764784"/>
                  <a:pt x="1124779" y="4046222"/>
                </a:cubicBezTo>
                <a:cubicBezTo>
                  <a:pt x="1124779" y="4327660"/>
                  <a:pt x="896629" y="4555810"/>
                  <a:pt x="615191" y="4555810"/>
                </a:cubicBezTo>
                <a:cubicBezTo>
                  <a:pt x="333753" y="4555810"/>
                  <a:pt x="105603" y="4327660"/>
                  <a:pt x="105603" y="4046222"/>
                </a:cubicBezTo>
                <a:cubicBezTo>
                  <a:pt x="105603" y="3764784"/>
                  <a:pt x="333753" y="3536634"/>
                  <a:pt x="615191" y="3536634"/>
                </a:cubicBezTo>
                <a:close/>
                <a:moveTo>
                  <a:pt x="1497781" y="0"/>
                </a:moveTo>
                <a:lnTo>
                  <a:pt x="5726654" y="0"/>
                </a:lnTo>
                <a:lnTo>
                  <a:pt x="5726654" y="6857999"/>
                </a:lnTo>
                <a:lnTo>
                  <a:pt x="311758" y="6857999"/>
                </a:lnTo>
                <a:lnTo>
                  <a:pt x="314131" y="6707669"/>
                </a:lnTo>
                <a:cubicBezTo>
                  <a:pt x="335133" y="6366408"/>
                  <a:pt x="433652" y="6019041"/>
                  <a:pt x="599703" y="5670857"/>
                </a:cubicBezTo>
                <a:cubicBezTo>
                  <a:pt x="770258" y="5311555"/>
                  <a:pt x="1010814" y="4986831"/>
                  <a:pt x="1211434" y="4641254"/>
                </a:cubicBezTo>
                <a:cubicBezTo>
                  <a:pt x="1493037" y="4154455"/>
                  <a:pt x="1511836" y="3622743"/>
                  <a:pt x="1053042" y="3164268"/>
                </a:cubicBezTo>
                <a:cubicBezTo>
                  <a:pt x="881978" y="2993263"/>
                  <a:pt x="700423" y="2805522"/>
                  <a:pt x="607049" y="2589404"/>
                </a:cubicBezTo>
                <a:cubicBezTo>
                  <a:pt x="366280" y="2032157"/>
                  <a:pt x="541126" y="1508060"/>
                  <a:pt x="1054916" y="1068098"/>
                </a:cubicBezTo>
                <a:cubicBezTo>
                  <a:pt x="1261028" y="891534"/>
                  <a:pt x="1489689" y="709487"/>
                  <a:pt x="1502878" y="419994"/>
                </a:cubicBezTo>
                <a:cubicBezTo>
                  <a:pt x="1506390" y="341909"/>
                  <a:pt x="1507263" y="263519"/>
                  <a:pt x="1505905" y="184995"/>
                </a:cubicBezTo>
                <a:close/>
                <a:moveTo>
                  <a:pt x="14544" y="0"/>
                </a:moveTo>
                <a:lnTo>
                  <a:pt x="879353" y="0"/>
                </a:lnTo>
                <a:lnTo>
                  <a:pt x="892054" y="78051"/>
                </a:lnTo>
                <a:cubicBezTo>
                  <a:pt x="904493" y="285270"/>
                  <a:pt x="770272" y="479620"/>
                  <a:pt x="561941" y="535442"/>
                </a:cubicBezTo>
                <a:cubicBezTo>
                  <a:pt x="323847" y="599239"/>
                  <a:pt x="79117" y="457944"/>
                  <a:pt x="15320" y="219851"/>
                </a:cubicBezTo>
                <a:cubicBezTo>
                  <a:pt x="-630" y="160328"/>
                  <a:pt x="-3761" y="100390"/>
                  <a:pt x="4235" y="42968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E5D41D-4E65-54BB-007B-28B30E382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86" t="14648" r="30777" b="29883"/>
          <a:stretch>
            <a:fillRect/>
          </a:stretch>
        </p:blipFill>
        <p:spPr>
          <a:xfrm>
            <a:off x="449763" y="1714893"/>
            <a:ext cx="6033585" cy="47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4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E040A-103A-97B1-D702-C50B5618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2541909-4C9E-AEBA-A9F1-A74DA5E2D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A85E09-036C-1424-7EF3-1241DCAB9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FB543-6630-DB8F-FCB7-74F666257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06" b="674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71D52A5E-6BEE-5FE2-F50A-F230406B0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9" cy="6858000"/>
          </a:xfrm>
          <a:custGeom>
            <a:avLst/>
            <a:gdLst>
              <a:gd name="connsiteX0" fmla="*/ 7169276 w 10615629"/>
              <a:gd name="connsiteY0" fmla="*/ 5704266 h 6858000"/>
              <a:gd name="connsiteX1" fmla="*/ 7514897 w 10615629"/>
              <a:gd name="connsiteY1" fmla="*/ 6049887 h 6858000"/>
              <a:gd name="connsiteX2" fmla="*/ 7169276 w 10615629"/>
              <a:gd name="connsiteY2" fmla="*/ 6395508 h 6858000"/>
              <a:gd name="connsiteX3" fmla="*/ 6823655 w 10615629"/>
              <a:gd name="connsiteY3" fmla="*/ 6049887 h 6858000"/>
              <a:gd name="connsiteX4" fmla="*/ 7169276 w 10615629"/>
              <a:gd name="connsiteY4" fmla="*/ 5704266 h 6858000"/>
              <a:gd name="connsiteX5" fmla="*/ 10010446 w 10615629"/>
              <a:gd name="connsiteY5" fmla="*/ 2324705 h 6858000"/>
              <a:gd name="connsiteX6" fmla="*/ 10456760 w 10615629"/>
              <a:gd name="connsiteY6" fmla="*/ 2771019 h 6858000"/>
              <a:gd name="connsiteX7" fmla="*/ 10010446 w 10615629"/>
              <a:gd name="connsiteY7" fmla="*/ 3217333 h 6858000"/>
              <a:gd name="connsiteX8" fmla="*/ 9564132 w 10615629"/>
              <a:gd name="connsiteY8" fmla="*/ 2771019 h 6858000"/>
              <a:gd name="connsiteX9" fmla="*/ 10010446 w 10615629"/>
              <a:gd name="connsiteY9" fmla="*/ 2324705 h 6858000"/>
              <a:gd name="connsiteX10" fmla="*/ 10354145 w 10615629"/>
              <a:gd name="connsiteY10" fmla="*/ 1665213 h 6858000"/>
              <a:gd name="connsiteX11" fmla="*/ 10615629 w 10615629"/>
              <a:gd name="connsiteY11" fmla="*/ 1926697 h 6858000"/>
              <a:gd name="connsiteX12" fmla="*/ 10354145 w 10615629"/>
              <a:gd name="connsiteY12" fmla="*/ 2188181 h 6858000"/>
              <a:gd name="connsiteX13" fmla="*/ 10092661 w 10615629"/>
              <a:gd name="connsiteY13" fmla="*/ 1926697 h 6858000"/>
              <a:gd name="connsiteX14" fmla="*/ 10354145 w 10615629"/>
              <a:gd name="connsiteY14" fmla="*/ 1665213 h 6858000"/>
              <a:gd name="connsiteX15" fmla="*/ 1458901 w 10615629"/>
              <a:gd name="connsiteY15" fmla="*/ 659644 h 6858000"/>
              <a:gd name="connsiteX16" fmla="*/ 1905215 w 10615629"/>
              <a:gd name="connsiteY16" fmla="*/ 1105958 h 6858000"/>
              <a:gd name="connsiteX17" fmla="*/ 1458901 w 10615629"/>
              <a:gd name="connsiteY17" fmla="*/ 1552272 h 6858000"/>
              <a:gd name="connsiteX18" fmla="*/ 1012587 w 10615629"/>
              <a:gd name="connsiteY18" fmla="*/ 1105958 h 6858000"/>
              <a:gd name="connsiteX19" fmla="*/ 1458901 w 10615629"/>
              <a:gd name="connsiteY19" fmla="*/ 659644 h 6858000"/>
              <a:gd name="connsiteX20" fmla="*/ 6674038 w 10615629"/>
              <a:gd name="connsiteY20" fmla="*/ 0 h 6858000"/>
              <a:gd name="connsiteX21" fmla="*/ 10121228 w 10615629"/>
              <a:gd name="connsiteY21" fmla="*/ 0 h 6858000"/>
              <a:gd name="connsiteX22" fmla="*/ 10122250 w 10615629"/>
              <a:gd name="connsiteY22" fmla="*/ 1542 h 6858000"/>
              <a:gd name="connsiteX23" fmla="*/ 9914575 w 10615629"/>
              <a:gd name="connsiteY23" fmla="*/ 1714821 h 6858000"/>
              <a:gd name="connsiteX24" fmla="*/ 9361609 w 10615629"/>
              <a:gd name="connsiteY24" fmla="*/ 2396453 h 6858000"/>
              <a:gd name="connsiteX25" fmla="*/ 9334635 w 10615629"/>
              <a:gd name="connsiteY25" fmla="*/ 3107486 h 6858000"/>
              <a:gd name="connsiteX26" fmla="*/ 9815042 w 10615629"/>
              <a:gd name="connsiteY26" fmla="*/ 3891891 h 6858000"/>
              <a:gd name="connsiteX27" fmla="*/ 9376176 w 10615629"/>
              <a:gd name="connsiteY27" fmla="*/ 5202286 h 6858000"/>
              <a:gd name="connsiteX28" fmla="*/ 7869813 w 10615629"/>
              <a:gd name="connsiteY28" fmla="*/ 5436960 h 6858000"/>
              <a:gd name="connsiteX29" fmla="*/ 6545392 w 10615629"/>
              <a:gd name="connsiteY29" fmla="*/ 5630362 h 6858000"/>
              <a:gd name="connsiteX30" fmla="*/ 5772723 w 10615629"/>
              <a:gd name="connsiteY30" fmla="*/ 6502431 h 6858000"/>
              <a:gd name="connsiteX31" fmla="*/ 5542129 w 10615629"/>
              <a:gd name="connsiteY31" fmla="*/ 6791052 h 6858000"/>
              <a:gd name="connsiteX32" fmla="*/ 5487454 w 10615629"/>
              <a:gd name="connsiteY32" fmla="*/ 6858000 h 6858000"/>
              <a:gd name="connsiteX33" fmla="*/ 3860772 w 10615629"/>
              <a:gd name="connsiteY33" fmla="*/ 6858000 h 6858000"/>
              <a:gd name="connsiteX34" fmla="*/ 3806309 w 10615629"/>
              <a:gd name="connsiteY34" fmla="*/ 6753976 h 6858000"/>
              <a:gd name="connsiteX35" fmla="*/ 3692626 w 10615629"/>
              <a:gd name="connsiteY35" fmla="*/ 6315366 h 6858000"/>
              <a:gd name="connsiteX36" fmla="*/ 2561203 w 10615629"/>
              <a:gd name="connsiteY36" fmla="*/ 5694965 h 6858000"/>
              <a:gd name="connsiteX37" fmla="*/ 69617 w 10615629"/>
              <a:gd name="connsiteY37" fmla="*/ 4316865 h 6858000"/>
              <a:gd name="connsiteX38" fmla="*/ 1643 w 10615629"/>
              <a:gd name="connsiteY38" fmla="*/ 3718987 h 6858000"/>
              <a:gd name="connsiteX39" fmla="*/ 368893 w 10615629"/>
              <a:gd name="connsiteY39" fmla="*/ 2555465 h 6858000"/>
              <a:gd name="connsiteX40" fmla="*/ 1113509 w 10615629"/>
              <a:gd name="connsiteY40" fmla="*/ 2231777 h 6858000"/>
              <a:gd name="connsiteX41" fmla="*/ 2037233 w 10615629"/>
              <a:gd name="connsiteY41" fmla="*/ 2044714 h 6858000"/>
              <a:gd name="connsiteX42" fmla="*/ 2547311 w 10615629"/>
              <a:gd name="connsiteY42" fmla="*/ 1444273 h 6858000"/>
              <a:gd name="connsiteX43" fmla="*/ 3900864 w 10615629"/>
              <a:gd name="connsiteY43" fmla="*/ 617925 h 6858000"/>
              <a:gd name="connsiteX44" fmla="*/ 4571572 w 10615629"/>
              <a:gd name="connsiteY44" fmla="*/ 899937 h 6858000"/>
              <a:gd name="connsiteX45" fmla="*/ 6039226 w 10615629"/>
              <a:gd name="connsiteY45" fmla="*/ 670658 h 6858000"/>
              <a:gd name="connsiteX46" fmla="*/ 6656610 w 10615629"/>
              <a:gd name="connsiteY46" fmla="*/ 161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9" h="6858000">
                <a:moveTo>
                  <a:pt x="7169276" y="5704266"/>
                </a:moveTo>
                <a:cubicBezTo>
                  <a:pt x="7360157" y="5704266"/>
                  <a:pt x="7514897" y="5859006"/>
                  <a:pt x="7514897" y="6049887"/>
                </a:cubicBezTo>
                <a:cubicBezTo>
                  <a:pt x="7514897" y="6240768"/>
                  <a:pt x="7360157" y="6395508"/>
                  <a:pt x="7169276" y="6395508"/>
                </a:cubicBezTo>
                <a:cubicBezTo>
                  <a:pt x="6978395" y="6395508"/>
                  <a:pt x="6823655" y="6240768"/>
                  <a:pt x="6823655" y="6049887"/>
                </a:cubicBezTo>
                <a:cubicBezTo>
                  <a:pt x="6823655" y="5859006"/>
                  <a:pt x="6978395" y="5704266"/>
                  <a:pt x="7169276" y="5704266"/>
                </a:cubicBezTo>
                <a:close/>
                <a:moveTo>
                  <a:pt x="10010446" y="2324705"/>
                </a:moveTo>
                <a:cubicBezTo>
                  <a:pt x="10256938" y="2324705"/>
                  <a:pt x="10456760" y="2524528"/>
                  <a:pt x="10456760" y="2771019"/>
                </a:cubicBezTo>
                <a:cubicBezTo>
                  <a:pt x="10456760" y="3017511"/>
                  <a:pt x="10256938" y="3217333"/>
                  <a:pt x="10010446" y="3217333"/>
                </a:cubicBezTo>
                <a:cubicBezTo>
                  <a:pt x="9763954" y="3217333"/>
                  <a:pt x="9564132" y="3017511"/>
                  <a:pt x="9564132" y="2771019"/>
                </a:cubicBezTo>
                <a:cubicBezTo>
                  <a:pt x="9564132" y="2524528"/>
                  <a:pt x="9763954" y="2324705"/>
                  <a:pt x="10010446" y="2324705"/>
                </a:cubicBezTo>
                <a:close/>
                <a:moveTo>
                  <a:pt x="10354145" y="1665213"/>
                </a:moveTo>
                <a:cubicBezTo>
                  <a:pt x="10498559" y="1665213"/>
                  <a:pt x="10615629" y="1782283"/>
                  <a:pt x="10615629" y="1926697"/>
                </a:cubicBezTo>
                <a:cubicBezTo>
                  <a:pt x="10615629" y="2071111"/>
                  <a:pt x="10498559" y="2188181"/>
                  <a:pt x="10354145" y="2188181"/>
                </a:cubicBezTo>
                <a:cubicBezTo>
                  <a:pt x="10209731" y="2188181"/>
                  <a:pt x="10092661" y="2071111"/>
                  <a:pt x="10092661" y="1926697"/>
                </a:cubicBezTo>
                <a:cubicBezTo>
                  <a:pt x="10092661" y="1782283"/>
                  <a:pt x="10209731" y="1665213"/>
                  <a:pt x="10354145" y="1665213"/>
                </a:cubicBezTo>
                <a:close/>
                <a:moveTo>
                  <a:pt x="1458901" y="659644"/>
                </a:moveTo>
                <a:cubicBezTo>
                  <a:pt x="1705393" y="659644"/>
                  <a:pt x="1905215" y="859466"/>
                  <a:pt x="1905215" y="1105958"/>
                </a:cubicBezTo>
                <a:cubicBezTo>
                  <a:pt x="1905215" y="1352450"/>
                  <a:pt x="1705393" y="1552272"/>
                  <a:pt x="1458901" y="1552272"/>
                </a:cubicBezTo>
                <a:cubicBezTo>
                  <a:pt x="1212409" y="1552272"/>
                  <a:pt x="1012587" y="1352450"/>
                  <a:pt x="1012587" y="1105958"/>
                </a:cubicBezTo>
                <a:cubicBezTo>
                  <a:pt x="1012587" y="859466"/>
                  <a:pt x="1212409" y="659644"/>
                  <a:pt x="1458901" y="659644"/>
                </a:cubicBezTo>
                <a:close/>
                <a:moveTo>
                  <a:pt x="6674038" y="0"/>
                </a:moveTo>
                <a:lnTo>
                  <a:pt x="10121228" y="0"/>
                </a:lnTo>
                <a:lnTo>
                  <a:pt x="10122250" y="1542"/>
                </a:lnTo>
                <a:cubicBezTo>
                  <a:pt x="10407914" y="485220"/>
                  <a:pt x="10448238" y="1134713"/>
                  <a:pt x="9914575" y="1714821"/>
                </a:cubicBezTo>
                <a:cubicBezTo>
                  <a:pt x="9716856" y="1929804"/>
                  <a:pt x="9539638" y="2164208"/>
                  <a:pt x="9361609" y="2396453"/>
                </a:cubicBezTo>
                <a:cubicBezTo>
                  <a:pt x="9193292" y="2616157"/>
                  <a:pt x="9188572" y="2869712"/>
                  <a:pt x="9334635" y="3107486"/>
                </a:cubicBezTo>
                <a:cubicBezTo>
                  <a:pt x="9495670" y="3368730"/>
                  <a:pt x="9683004" y="3617025"/>
                  <a:pt x="9815042" y="3891891"/>
                </a:cubicBezTo>
                <a:cubicBezTo>
                  <a:pt x="10050525" y="4382007"/>
                  <a:pt x="9955575" y="4864841"/>
                  <a:pt x="9376176" y="5202286"/>
                </a:cubicBezTo>
                <a:cubicBezTo>
                  <a:pt x="8901029" y="5479039"/>
                  <a:pt x="8396077" y="5489829"/>
                  <a:pt x="7869813" y="5436960"/>
                </a:cubicBezTo>
                <a:cubicBezTo>
                  <a:pt x="7414764" y="5391373"/>
                  <a:pt x="6924917" y="5356038"/>
                  <a:pt x="6545392" y="5630362"/>
                </a:cubicBezTo>
                <a:cubicBezTo>
                  <a:pt x="6238294" y="5852628"/>
                  <a:pt x="6024795" y="6205178"/>
                  <a:pt x="5772723" y="6502431"/>
                </a:cubicBezTo>
                <a:cubicBezTo>
                  <a:pt x="5693285" y="6596233"/>
                  <a:pt x="5618533" y="6694485"/>
                  <a:pt x="5542129" y="6791052"/>
                </a:cubicBezTo>
                <a:lnTo>
                  <a:pt x="5487454" y="6858000"/>
                </a:lnTo>
                <a:lnTo>
                  <a:pt x="3860772" y="6858000"/>
                </a:lnTo>
                <a:lnTo>
                  <a:pt x="3806309" y="6753976"/>
                </a:lnTo>
                <a:cubicBezTo>
                  <a:pt x="3748311" y="6617180"/>
                  <a:pt x="3717510" y="6461835"/>
                  <a:pt x="3692626" y="6315366"/>
                </a:cubicBezTo>
                <a:cubicBezTo>
                  <a:pt x="3594980" y="5743923"/>
                  <a:pt x="2996563" y="5569132"/>
                  <a:pt x="2561203" y="5694965"/>
                </a:cubicBezTo>
                <a:cubicBezTo>
                  <a:pt x="1295584" y="6063834"/>
                  <a:pt x="405173" y="5417942"/>
                  <a:pt x="69617" y="4316865"/>
                </a:cubicBezTo>
                <a:cubicBezTo>
                  <a:pt x="12163" y="4128181"/>
                  <a:pt x="22818" y="3919404"/>
                  <a:pt x="1643" y="3718987"/>
                </a:cubicBezTo>
                <a:cubicBezTo>
                  <a:pt x="-11845" y="3285650"/>
                  <a:pt x="53163" y="2879692"/>
                  <a:pt x="368893" y="2555465"/>
                </a:cubicBezTo>
                <a:cubicBezTo>
                  <a:pt x="570254" y="2348709"/>
                  <a:pt x="826642" y="2266304"/>
                  <a:pt x="1113509" y="2231777"/>
                </a:cubicBezTo>
                <a:cubicBezTo>
                  <a:pt x="1425464" y="2194013"/>
                  <a:pt x="1739171" y="2139122"/>
                  <a:pt x="2037233" y="2044714"/>
                </a:cubicBezTo>
                <a:cubicBezTo>
                  <a:pt x="2313448" y="1957047"/>
                  <a:pt x="2430109" y="1689061"/>
                  <a:pt x="2547311" y="1444273"/>
                </a:cubicBezTo>
                <a:cubicBezTo>
                  <a:pt x="2839304" y="834121"/>
                  <a:pt x="3300290" y="529585"/>
                  <a:pt x="3900864" y="617925"/>
                </a:cubicBezTo>
                <a:cubicBezTo>
                  <a:pt x="4133785" y="652182"/>
                  <a:pt x="4362119" y="778959"/>
                  <a:pt x="4571572" y="899937"/>
                </a:cubicBezTo>
                <a:cubicBezTo>
                  <a:pt x="5133170" y="1224435"/>
                  <a:pt x="5641899" y="1068660"/>
                  <a:pt x="6039226" y="670658"/>
                </a:cubicBezTo>
                <a:cubicBezTo>
                  <a:pt x="6250634" y="458239"/>
                  <a:pt x="6444898" y="227157"/>
                  <a:pt x="6656610" y="1615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20F196-5A9B-C091-851D-C7D9F9BC9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7552" y="1388459"/>
            <a:ext cx="6458556" cy="2387600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dirty="0" err="1">
                <a:ea typeface="+mj-lt"/>
                <a:cs typeface="+mj-lt"/>
              </a:rPr>
              <a:t>Generování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obrázku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2D7BE-18DE-B3E7-BF80-4DBF72C19613}"/>
              </a:ext>
            </a:extLst>
          </p:cNvPr>
          <p:cNvSpPr txBox="1"/>
          <p:nvPr/>
        </p:nvSpPr>
        <p:spPr>
          <a:xfrm>
            <a:off x="5188856" y="3773714"/>
            <a:ext cx="32052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 err="1"/>
              <a:t>Ukázka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5807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A84E7-C8A4-EA7B-1635-BEA712C92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E3A6CF1-CE88-42A3-8C77-AE98091E7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DC0045-D56D-9DE2-3E48-0775095DE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8110" y="448587"/>
            <a:ext cx="5486399" cy="155492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1" dirty="0">
                <a:latin typeface="Arial"/>
                <a:ea typeface="+mj-lt"/>
                <a:cs typeface="Arial"/>
              </a:rPr>
              <a:t>Mandelbrot</a:t>
            </a:r>
            <a:endParaRPr lang="en-US" dirty="0"/>
          </a:p>
          <a:p>
            <a:pPr>
              <a:lnSpc>
                <a:spcPct val="90000"/>
              </a:lnSpc>
            </a:pPr>
            <a:endParaRPr lang="en-US" sz="4600" b="1">
              <a:cs typeface="Posteram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4A5CE-C385-D71C-2B7C-633688D26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91" r="-2" b="-2"/>
          <a:stretch>
            <a:fillRect/>
          </a:stretch>
        </p:blipFill>
        <p:spPr>
          <a:xfrm>
            <a:off x="20" y="211090"/>
            <a:ext cx="5544156" cy="6646910"/>
          </a:xfrm>
          <a:custGeom>
            <a:avLst/>
            <a:gdLst/>
            <a:ahLst/>
            <a:cxnLst/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63896D-C465-C676-C601-8DDAB26D9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946" y="1714892"/>
            <a:ext cx="4485753" cy="470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18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347A1-335E-42DC-E83E-AF4C5826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32274B4-B001-4088-B01D-E6999509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E81DC3E-9F83-48B2-0A89-5981AFCEA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552" y="422083"/>
            <a:ext cx="3901736" cy="14919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latin typeface="Arial"/>
                <a:ea typeface="+mj-lt"/>
                <a:cs typeface="Arial"/>
              </a:rPr>
              <a:t>Gradient</a:t>
            </a:r>
            <a:endParaRPr lang="en-US" dirty="0"/>
          </a:p>
          <a:p>
            <a:endParaRPr lang="en-US" b="1">
              <a:cs typeface="Posteram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5E75CD-A4AC-0BD2-1E72-8D6FFEE09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5229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8D753E-5337-48B7-382C-4D235C2B3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53" y="1714109"/>
            <a:ext cx="4569390" cy="463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0FB86-8E2D-4428-119F-5E55265F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E631B5-AE37-F31D-572B-5CB09A1F3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4014"/>
            <a:ext cx="7342018" cy="8833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err="1">
                <a:ea typeface="+mj-lt"/>
                <a:cs typeface="+mj-lt"/>
              </a:rPr>
              <a:t>Zajímavé</a:t>
            </a:r>
            <a:r>
              <a:rPr lang="en-US" sz="4400" b="1" dirty="0">
                <a:ea typeface="+mj-lt"/>
                <a:cs typeface="+mj-lt"/>
              </a:rPr>
              <a:t> </a:t>
            </a:r>
            <a:r>
              <a:rPr lang="en-US" sz="4400" b="1" err="1">
                <a:ea typeface="+mj-lt"/>
                <a:cs typeface="+mj-lt"/>
              </a:rPr>
              <a:t>technické</a:t>
            </a:r>
            <a:r>
              <a:rPr lang="en-US" sz="4400" b="1" dirty="0">
                <a:ea typeface="+mj-lt"/>
                <a:cs typeface="+mj-lt"/>
              </a:rPr>
              <a:t> </a:t>
            </a:r>
            <a:r>
              <a:rPr lang="en-US" sz="4400" b="1" err="1">
                <a:ea typeface="+mj-lt"/>
                <a:cs typeface="+mj-lt"/>
              </a:rPr>
              <a:t>řešení</a:t>
            </a:r>
            <a:endParaRPr lang="en-US" b="1" err="1">
              <a:ea typeface="+mj-ea"/>
              <a:cs typeface="+mj-cs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6DFADB6-18F8-611D-0315-850DBC5BE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869" y="1609118"/>
            <a:ext cx="6002454" cy="36445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/>
            <a:r>
              <a:rPr lang="en-US" b="1" dirty="0">
                <a:ea typeface="+mn-lt"/>
                <a:cs typeface="+mn-lt"/>
              </a:rPr>
              <a:t>Caching</a:t>
            </a:r>
            <a:r>
              <a:rPr lang="en-US" dirty="0">
                <a:ea typeface="+mn-lt"/>
                <a:cs typeface="+mn-lt"/>
              </a:rPr>
              <a:t>– </a:t>
            </a:r>
            <a:r>
              <a:rPr lang="en-US" dirty="0" err="1">
                <a:ea typeface="+mn-lt"/>
                <a:cs typeface="+mn-lt"/>
              </a:rPr>
              <a:t>výsledek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filtru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uloží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příště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jen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zkopíruje</a:t>
            </a:r>
            <a:endParaRPr lang="en-US" dirty="0">
              <a:ea typeface="+mn-lt"/>
              <a:cs typeface="+mn-lt"/>
            </a:endParaRPr>
          </a:p>
          <a:p>
            <a:pPr marL="285750"/>
            <a:r>
              <a:rPr lang="en-US" b="1" err="1">
                <a:ea typeface="+mn-lt"/>
                <a:cs typeface="+mn-lt"/>
              </a:rPr>
              <a:t>Asynchronní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zpracování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filtry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běží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poz</a:t>
            </a:r>
            <a:endParaRPr lang="en-US" dirty="0" err="1">
              <a:ea typeface="+mn-lt"/>
              <a:cs typeface="+mn-lt"/>
            </a:endParaRPr>
          </a:p>
          <a:p>
            <a:pPr marL="285750"/>
            <a:r>
              <a:rPr lang="en-US" dirty="0" err="1">
                <a:ea typeface="+mn-lt"/>
                <a:cs typeface="+mn-lt"/>
              </a:rPr>
              <a:t>adí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aplikace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nezamrzne</a:t>
            </a:r>
            <a:endParaRPr lang="en-US" dirty="0">
              <a:ea typeface="+mn-lt"/>
              <a:cs typeface="+mn-lt"/>
            </a:endParaRPr>
          </a:p>
          <a:p>
            <a:pPr marL="285750"/>
            <a:r>
              <a:rPr lang="en-US" b="1" dirty="0">
                <a:ea typeface="+mn-lt"/>
                <a:cs typeface="+mn-lt"/>
              </a:rPr>
              <a:t>Observer pattern</a:t>
            </a:r>
            <a:r>
              <a:rPr lang="en-US" dirty="0">
                <a:ea typeface="+mn-lt"/>
                <a:cs typeface="+mn-lt"/>
              </a:rPr>
              <a:t> – UI se </a:t>
            </a:r>
            <a:r>
              <a:rPr lang="en-US" dirty="0" err="1">
                <a:ea typeface="+mn-lt"/>
                <a:cs typeface="+mn-lt"/>
              </a:rPr>
              <a:t>samo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aktualizuje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změnách</a:t>
            </a:r>
            <a:endParaRPr lang="en-US" dirty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7C603-427B-6D0F-CDD2-B26EA8A6C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8" b="3"/>
          <a:stretch>
            <a:fillRect/>
          </a:stretch>
        </p:blipFill>
        <p:spPr>
          <a:xfrm>
            <a:off x="6408746" y="341196"/>
            <a:ext cx="5783254" cy="5827839"/>
          </a:xfrm>
          <a:custGeom>
            <a:avLst/>
            <a:gdLst/>
            <a:ahLst/>
            <a:cxnLst/>
            <a:rect l="l" t="t" r="r" b="b"/>
            <a:pathLst>
              <a:path w="5783254" h="5827839">
                <a:moveTo>
                  <a:pt x="4737899" y="4735529"/>
                </a:moveTo>
                <a:cubicBezTo>
                  <a:pt x="5039532" y="4735529"/>
                  <a:pt x="5284054" y="4980051"/>
                  <a:pt x="5284054" y="5281684"/>
                </a:cubicBezTo>
                <a:cubicBezTo>
                  <a:pt x="5284054" y="5583317"/>
                  <a:pt x="5039532" y="5827839"/>
                  <a:pt x="4737899" y="5827839"/>
                </a:cubicBezTo>
                <a:cubicBezTo>
                  <a:pt x="4436266" y="5827839"/>
                  <a:pt x="4191744" y="5583317"/>
                  <a:pt x="4191744" y="5281684"/>
                </a:cubicBezTo>
                <a:cubicBezTo>
                  <a:pt x="4191744" y="4980051"/>
                  <a:pt x="4436266" y="4735529"/>
                  <a:pt x="4737899" y="4735529"/>
                </a:cubicBezTo>
                <a:close/>
                <a:moveTo>
                  <a:pt x="926278" y="4451445"/>
                </a:moveTo>
                <a:cubicBezTo>
                  <a:pt x="1155542" y="4451445"/>
                  <a:pt x="1341398" y="4637301"/>
                  <a:pt x="1341398" y="4866565"/>
                </a:cubicBezTo>
                <a:cubicBezTo>
                  <a:pt x="1341398" y="5095829"/>
                  <a:pt x="1155542" y="5281685"/>
                  <a:pt x="926278" y="5281685"/>
                </a:cubicBezTo>
                <a:cubicBezTo>
                  <a:pt x="697014" y="5281685"/>
                  <a:pt x="511158" y="5095829"/>
                  <a:pt x="511158" y="4866565"/>
                </a:cubicBezTo>
                <a:cubicBezTo>
                  <a:pt x="511158" y="4637301"/>
                  <a:pt x="697014" y="4451445"/>
                  <a:pt x="926278" y="4451445"/>
                </a:cubicBezTo>
                <a:close/>
                <a:moveTo>
                  <a:pt x="1681949" y="4088725"/>
                </a:moveTo>
                <a:cubicBezTo>
                  <a:pt x="1834038" y="4088725"/>
                  <a:pt x="1957331" y="4212018"/>
                  <a:pt x="1957331" y="4364107"/>
                </a:cubicBezTo>
                <a:cubicBezTo>
                  <a:pt x="1957331" y="4516196"/>
                  <a:pt x="1834038" y="4639489"/>
                  <a:pt x="1681949" y="4639489"/>
                </a:cubicBezTo>
                <a:cubicBezTo>
                  <a:pt x="1529860" y="4639489"/>
                  <a:pt x="1406567" y="4516196"/>
                  <a:pt x="1406567" y="4364107"/>
                </a:cubicBezTo>
                <a:cubicBezTo>
                  <a:pt x="1406567" y="4212018"/>
                  <a:pt x="1529860" y="4088725"/>
                  <a:pt x="1681949" y="4088725"/>
                </a:cubicBezTo>
                <a:close/>
                <a:moveTo>
                  <a:pt x="1693411" y="509182"/>
                </a:moveTo>
                <a:cubicBezTo>
                  <a:pt x="1845500" y="509182"/>
                  <a:pt x="1968793" y="632475"/>
                  <a:pt x="1968793" y="784564"/>
                </a:cubicBezTo>
                <a:cubicBezTo>
                  <a:pt x="1968793" y="936653"/>
                  <a:pt x="1845500" y="1059946"/>
                  <a:pt x="1693411" y="1059946"/>
                </a:cubicBezTo>
                <a:cubicBezTo>
                  <a:pt x="1541322" y="1059946"/>
                  <a:pt x="1418029" y="936653"/>
                  <a:pt x="1418029" y="784564"/>
                </a:cubicBezTo>
                <a:cubicBezTo>
                  <a:pt x="1418029" y="632475"/>
                  <a:pt x="1541322" y="509182"/>
                  <a:pt x="1693411" y="509182"/>
                </a:cubicBezTo>
                <a:close/>
                <a:moveTo>
                  <a:pt x="3016437" y="478512"/>
                </a:moveTo>
                <a:cubicBezTo>
                  <a:pt x="3052905" y="476034"/>
                  <a:pt x="3089701" y="476075"/>
                  <a:pt x="3126794" y="478680"/>
                </a:cubicBezTo>
                <a:cubicBezTo>
                  <a:pt x="3225709" y="485628"/>
                  <a:pt x="3326735" y="510816"/>
                  <a:pt x="3429286" y="555125"/>
                </a:cubicBezTo>
                <a:cubicBezTo>
                  <a:pt x="3588377" y="623860"/>
                  <a:pt x="3726579" y="757508"/>
                  <a:pt x="3852460" y="883435"/>
                </a:cubicBezTo>
                <a:cubicBezTo>
                  <a:pt x="4189958" y="1221166"/>
                  <a:pt x="4581366" y="1207328"/>
                  <a:pt x="4939713" y="1000031"/>
                </a:cubicBezTo>
                <a:cubicBezTo>
                  <a:pt x="5194103" y="852348"/>
                  <a:pt x="5433141" y="675268"/>
                  <a:pt x="5697634" y="549718"/>
                </a:cubicBezTo>
                <a:lnTo>
                  <a:pt x="5783254" y="513561"/>
                </a:lnTo>
                <a:lnTo>
                  <a:pt x="5783254" y="4871711"/>
                </a:lnTo>
                <a:lnTo>
                  <a:pt x="5743328" y="4864473"/>
                </a:lnTo>
                <a:cubicBezTo>
                  <a:pt x="5605918" y="4834320"/>
                  <a:pt x="5469797" y="4789559"/>
                  <a:pt x="5333250" y="4737862"/>
                </a:cubicBezTo>
                <a:cubicBezTo>
                  <a:pt x="5018374" y="4618749"/>
                  <a:pt x="4676802" y="4500296"/>
                  <a:pt x="4354677" y="4623045"/>
                </a:cubicBezTo>
                <a:cubicBezTo>
                  <a:pt x="4093969" y="4722577"/>
                  <a:pt x="3874992" y="4932580"/>
                  <a:pt x="3639124" y="5095915"/>
                </a:cubicBezTo>
                <a:cubicBezTo>
                  <a:pt x="3490411" y="5199039"/>
                  <a:pt x="3351637" y="5318395"/>
                  <a:pt x="3196098" y="5409413"/>
                </a:cubicBezTo>
                <a:cubicBezTo>
                  <a:pt x="2798576" y="5642084"/>
                  <a:pt x="2315054" y="5309217"/>
                  <a:pt x="2216541" y="5005202"/>
                </a:cubicBezTo>
                <a:cubicBezTo>
                  <a:pt x="2172959" y="4870183"/>
                  <a:pt x="2182102" y="4711777"/>
                  <a:pt x="2195718" y="4566594"/>
                </a:cubicBezTo>
                <a:cubicBezTo>
                  <a:pt x="2235161" y="4141667"/>
                  <a:pt x="1842961" y="3903370"/>
                  <a:pt x="1509426" y="3909896"/>
                </a:cubicBezTo>
                <a:cubicBezTo>
                  <a:pt x="539234" y="3931048"/>
                  <a:pt x="29168" y="3302144"/>
                  <a:pt x="354" y="2455296"/>
                </a:cubicBezTo>
                <a:cubicBezTo>
                  <a:pt x="-4549" y="2310187"/>
                  <a:pt x="42804" y="2163767"/>
                  <a:pt x="65932" y="2017226"/>
                </a:cubicBezTo>
                <a:cubicBezTo>
                  <a:pt x="138904" y="1706535"/>
                  <a:pt x="262471" y="1430265"/>
                  <a:pt x="548743" y="1259879"/>
                </a:cubicBezTo>
                <a:cubicBezTo>
                  <a:pt x="731311" y="1151231"/>
                  <a:pt x="929316" y="1141485"/>
                  <a:pt x="1139870" y="1171590"/>
                </a:cubicBezTo>
                <a:cubicBezTo>
                  <a:pt x="1368879" y="1204173"/>
                  <a:pt x="1602397" y="1224911"/>
                  <a:pt x="1832320" y="1214571"/>
                </a:cubicBezTo>
                <a:cubicBezTo>
                  <a:pt x="2045424" y="1204861"/>
                  <a:pt x="2179434" y="1036538"/>
                  <a:pt x="2309408" y="884812"/>
                </a:cubicBezTo>
                <a:cubicBezTo>
                  <a:pt x="2521947" y="636609"/>
                  <a:pt x="2761159" y="495859"/>
                  <a:pt x="3016437" y="478512"/>
                </a:cubicBezTo>
                <a:close/>
                <a:moveTo>
                  <a:pt x="4470143" y="0"/>
                </a:moveTo>
                <a:cubicBezTo>
                  <a:pt x="4685857" y="0"/>
                  <a:pt x="4860728" y="174871"/>
                  <a:pt x="4860728" y="390585"/>
                </a:cubicBezTo>
                <a:cubicBezTo>
                  <a:pt x="4860728" y="606299"/>
                  <a:pt x="4685857" y="781170"/>
                  <a:pt x="4470143" y="781170"/>
                </a:cubicBezTo>
                <a:cubicBezTo>
                  <a:pt x="4254429" y="781170"/>
                  <a:pt x="4079558" y="606299"/>
                  <a:pt x="4079558" y="390585"/>
                </a:cubicBezTo>
                <a:cubicBezTo>
                  <a:pt x="4079558" y="174871"/>
                  <a:pt x="4254429" y="0"/>
                  <a:pt x="447014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9371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00DC4-951A-4A07-5756-94B3B2FC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3A6CF1-CE88-42A3-8C77-AE98091E7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100CDB-D1A2-2285-DE50-107452A0E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29" y="1113063"/>
            <a:ext cx="6238874" cy="29432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b="1" dirty="0"/>
              <a:t>Paint++?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E48F9-7307-7456-F3E4-BD6969E7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4" r="14475" b="-2"/>
          <a:stretch>
            <a:fillRect/>
          </a:stretch>
        </p:blipFill>
        <p:spPr>
          <a:xfrm>
            <a:off x="20" y="211090"/>
            <a:ext cx="5544156" cy="6646910"/>
          </a:xfrm>
          <a:custGeom>
            <a:avLst/>
            <a:gdLst/>
            <a:ahLst/>
            <a:cxnLst/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</p:spPr>
      </p:pic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A903D338-1F88-10B3-1717-8350EC19DF11}"/>
              </a:ext>
            </a:extLst>
          </p:cNvPr>
          <p:cNvSpPr/>
          <p:nvPr/>
        </p:nvSpPr>
        <p:spPr>
          <a:xfrm>
            <a:off x="7968342" y="2590800"/>
            <a:ext cx="957942" cy="1545770"/>
          </a:xfrm>
          <a:prstGeom prst="mathMultiply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333AF-E87D-226C-D70E-06CF9F4862BC}"/>
              </a:ext>
            </a:extLst>
          </p:cNvPr>
          <p:cNvSpPr txBox="1"/>
          <p:nvPr/>
        </p:nvSpPr>
        <p:spPr>
          <a:xfrm>
            <a:off x="6336082" y="4258848"/>
            <a:ext cx="42797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  <a:hlinkClick r:id="rId3"/>
              </a:rPr>
              <a:t>https://github.com/Paintpp/paintpp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7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279D3-BC86-E139-1A35-9655FC30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978CD5-696C-47A1-9AEC-EEB8D7D44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A41715B-4A9C-5CA8-C7EE-F734C8D4D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68964"/>
            <a:ext cx="5598097" cy="28196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err="1"/>
              <a:t>Děkujeme</a:t>
            </a:r>
            <a:r>
              <a:rPr lang="en-US" sz="6600" b="1" dirty="0"/>
              <a:t> za </a:t>
            </a:r>
            <a:r>
              <a:rPr lang="en-US" sz="6600" b="1" err="1"/>
              <a:t>pozornost</a:t>
            </a:r>
            <a:endParaRPr lang="en-US" sz="6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931B6-E115-908E-3053-F1EB4EC64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7" r="14430"/>
          <a:stretch>
            <a:fillRect/>
          </a:stretch>
        </p:blipFill>
        <p:spPr>
          <a:xfrm>
            <a:off x="6480316" y="1"/>
            <a:ext cx="5726654" cy="6857999"/>
          </a:xfrm>
          <a:custGeom>
            <a:avLst/>
            <a:gdLst/>
            <a:ahLst/>
            <a:cxnLst/>
            <a:rect l="l" t="t" r="r" b="b"/>
            <a:pathLst>
              <a:path w="5726654" h="6857999">
                <a:moveTo>
                  <a:pt x="615191" y="3536634"/>
                </a:moveTo>
                <a:cubicBezTo>
                  <a:pt x="896629" y="3536634"/>
                  <a:pt x="1124779" y="3764784"/>
                  <a:pt x="1124779" y="4046222"/>
                </a:cubicBezTo>
                <a:cubicBezTo>
                  <a:pt x="1124779" y="4327660"/>
                  <a:pt x="896629" y="4555810"/>
                  <a:pt x="615191" y="4555810"/>
                </a:cubicBezTo>
                <a:cubicBezTo>
                  <a:pt x="333753" y="4555810"/>
                  <a:pt x="105603" y="4327660"/>
                  <a:pt x="105603" y="4046222"/>
                </a:cubicBezTo>
                <a:cubicBezTo>
                  <a:pt x="105603" y="3764784"/>
                  <a:pt x="333753" y="3536634"/>
                  <a:pt x="615191" y="3536634"/>
                </a:cubicBezTo>
                <a:close/>
                <a:moveTo>
                  <a:pt x="1497781" y="0"/>
                </a:moveTo>
                <a:lnTo>
                  <a:pt x="5726654" y="0"/>
                </a:lnTo>
                <a:lnTo>
                  <a:pt x="5726654" y="6857999"/>
                </a:lnTo>
                <a:lnTo>
                  <a:pt x="311758" y="6857999"/>
                </a:lnTo>
                <a:lnTo>
                  <a:pt x="314131" y="6707669"/>
                </a:lnTo>
                <a:cubicBezTo>
                  <a:pt x="335133" y="6366408"/>
                  <a:pt x="433652" y="6019041"/>
                  <a:pt x="599703" y="5670857"/>
                </a:cubicBezTo>
                <a:cubicBezTo>
                  <a:pt x="770258" y="5311555"/>
                  <a:pt x="1010814" y="4986831"/>
                  <a:pt x="1211434" y="4641254"/>
                </a:cubicBezTo>
                <a:cubicBezTo>
                  <a:pt x="1493037" y="4154455"/>
                  <a:pt x="1511836" y="3622743"/>
                  <a:pt x="1053042" y="3164268"/>
                </a:cubicBezTo>
                <a:cubicBezTo>
                  <a:pt x="881978" y="2993263"/>
                  <a:pt x="700423" y="2805522"/>
                  <a:pt x="607049" y="2589404"/>
                </a:cubicBezTo>
                <a:cubicBezTo>
                  <a:pt x="366280" y="2032157"/>
                  <a:pt x="541126" y="1508060"/>
                  <a:pt x="1054916" y="1068098"/>
                </a:cubicBezTo>
                <a:cubicBezTo>
                  <a:pt x="1261028" y="891534"/>
                  <a:pt x="1489689" y="709487"/>
                  <a:pt x="1502878" y="419994"/>
                </a:cubicBezTo>
                <a:cubicBezTo>
                  <a:pt x="1506390" y="341909"/>
                  <a:pt x="1507263" y="263519"/>
                  <a:pt x="1505905" y="184995"/>
                </a:cubicBezTo>
                <a:close/>
                <a:moveTo>
                  <a:pt x="14544" y="0"/>
                </a:moveTo>
                <a:lnTo>
                  <a:pt x="879353" y="0"/>
                </a:lnTo>
                <a:lnTo>
                  <a:pt x="892054" y="78051"/>
                </a:lnTo>
                <a:cubicBezTo>
                  <a:pt x="904493" y="285270"/>
                  <a:pt x="770272" y="479620"/>
                  <a:pt x="561941" y="535442"/>
                </a:cubicBezTo>
                <a:cubicBezTo>
                  <a:pt x="323847" y="599239"/>
                  <a:pt x="79117" y="457944"/>
                  <a:pt x="15320" y="219851"/>
                </a:cubicBezTo>
                <a:cubicBezTo>
                  <a:pt x="-630" y="160328"/>
                  <a:pt x="-3761" y="100390"/>
                  <a:pt x="4235" y="4296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50638487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SplashVTI</vt:lpstr>
      <vt:lpstr>Paint++</vt:lpstr>
      <vt:lpstr>Co je Paint++?</vt:lpstr>
      <vt:lpstr>Ukázka aplikace</vt:lpstr>
      <vt:lpstr>PowerPoint Presentation</vt:lpstr>
      <vt:lpstr>Typy filtrů</vt:lpstr>
      <vt:lpstr>Ukázka filtrů</vt:lpstr>
      <vt:lpstr>Originál</vt:lpstr>
      <vt:lpstr>Černo-bílý</vt:lpstr>
      <vt:lpstr>Negativ</vt:lpstr>
      <vt:lpstr>Threshold - Práhování s konfigurovatelnou hodnotou </vt:lpstr>
      <vt:lpstr>Generování obrázku</vt:lpstr>
      <vt:lpstr>Mandelbrot </vt:lpstr>
      <vt:lpstr>Gradient </vt:lpstr>
      <vt:lpstr>Zajímavé technické řešení</vt:lpstr>
      <vt:lpstr>Paint++?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224</cp:revision>
  <dcterms:created xsi:type="dcterms:W3CDTF">2026-01-07T16:27:39Z</dcterms:created>
  <dcterms:modified xsi:type="dcterms:W3CDTF">2026-01-07T18:25:15Z</dcterms:modified>
</cp:coreProperties>
</file>